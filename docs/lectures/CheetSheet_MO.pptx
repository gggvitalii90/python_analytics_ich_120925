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10692000" cx="7560000"/>
  <p:notesSz cx="6858000" cy="9144000"/>
  <p:embeddedFontLst>
    <p:embeddedFont>
      <p:font typeface="Inter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368">
          <p15:clr>
            <a:srgbClr val="747775"/>
          </p15:clr>
        </p15:guide>
        <p15:guide id="2" pos="238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368" orient="horz"/>
        <p:guide pos="2381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Inter-boldItalic.fntdata"/><Relationship Id="rId10" Type="http://schemas.openxmlformats.org/officeDocument/2006/relationships/font" Target="fonts/Inter-italic.fntdata"/><Relationship Id="rId9" Type="http://schemas.openxmlformats.org/officeDocument/2006/relationships/font" Target="fonts/Inter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Inter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a10f2906c8_0_283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a10f2906c8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257712" y="1547778"/>
            <a:ext cx="7044600" cy="426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257705" y="5891409"/>
            <a:ext cx="7044600" cy="16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257705" y="4471058"/>
            <a:ext cx="7044600" cy="174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57705" y="2395696"/>
            <a:ext cx="3306900" cy="71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3995291" y="2395696"/>
            <a:ext cx="3306900" cy="71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257705" y="1154948"/>
            <a:ext cx="2321700" cy="157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257705" y="2888617"/>
            <a:ext cx="2321700" cy="66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05325" y="935745"/>
            <a:ext cx="5264700" cy="85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3780000" y="-260"/>
            <a:ext cx="3780000" cy="10692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19508" y="2563450"/>
            <a:ext cx="3344400" cy="308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19508" y="5826865"/>
            <a:ext cx="3344400" cy="256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083839" y="1505164"/>
            <a:ext cx="3172200" cy="76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257705" y="8794266"/>
            <a:ext cx="4959600" cy="125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257705" y="2299346"/>
            <a:ext cx="7044600" cy="408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257705" y="6552657"/>
            <a:ext cx="7044600" cy="27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45750" y="71050"/>
            <a:ext cx="7451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Машинное обучение</a:t>
            </a: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- это область искусственного интеллекта (ИИ), которая занимается разработкой алгоритмов, позволяющих компьютерам обучаться и принимать решения на основе данных.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2995475" y="655413"/>
            <a:ext cx="1241700" cy="291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Задачи МО</a:t>
            </a:r>
            <a:endParaRPr b="1" sz="1000"/>
          </a:p>
        </p:txBody>
      </p:sp>
      <p:sp>
        <p:nvSpPr>
          <p:cNvPr id="56" name="Google Shape;56;p13"/>
          <p:cNvSpPr/>
          <p:nvPr/>
        </p:nvSpPr>
        <p:spPr>
          <a:xfrm>
            <a:off x="879225" y="1151613"/>
            <a:ext cx="2726700" cy="747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Классификация</a:t>
            </a:r>
            <a:endParaRPr b="1" sz="1000"/>
          </a:p>
          <a:p>
            <a:pPr indent="-63500" lvl="0" marL="1143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  </a:t>
            </a:r>
            <a:r>
              <a:rPr lang="en" sz="800"/>
              <a:t>Логистическая регрессия - LogisticRegression</a:t>
            </a:r>
            <a:endParaRPr sz="800"/>
          </a:p>
          <a:p>
            <a:pPr indent="-50800" lvl="0" marL="114300" rtl="0" algn="l"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en" sz="800"/>
              <a:t>  Дерево Решений - DecisionTreeClassifier</a:t>
            </a:r>
            <a:endParaRPr sz="800"/>
          </a:p>
          <a:p>
            <a:pPr indent="-50800" lvl="0" marL="114300" rtl="0" algn="l"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en" sz="800"/>
              <a:t>  </a:t>
            </a:r>
            <a:r>
              <a:rPr lang="en" sz="800">
                <a:solidFill>
                  <a:schemeClr val="dk1"/>
                </a:solidFill>
              </a:rPr>
              <a:t>K ближайших соседей - KNN</a:t>
            </a:r>
            <a:endParaRPr sz="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/>
          <p:nvPr/>
        </p:nvSpPr>
        <p:spPr>
          <a:xfrm>
            <a:off x="3654800" y="1151638"/>
            <a:ext cx="2726700" cy="747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Регрессия</a:t>
            </a:r>
            <a:endParaRPr b="1" sz="1000"/>
          </a:p>
          <a:p>
            <a:pPr indent="-5080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" sz="800">
                <a:solidFill>
                  <a:schemeClr val="dk1"/>
                </a:solidFill>
              </a:rPr>
              <a:t>  </a:t>
            </a:r>
            <a:r>
              <a:rPr lang="en" sz="800">
                <a:solidFill>
                  <a:schemeClr val="dk1"/>
                </a:solidFill>
              </a:rPr>
              <a:t>Линейная регрессия - LinearRegression</a:t>
            </a:r>
            <a:endParaRPr sz="800">
              <a:solidFill>
                <a:schemeClr val="dk1"/>
              </a:solidFill>
            </a:endParaRPr>
          </a:p>
          <a:p>
            <a:pPr indent="-5080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" sz="800">
                <a:solidFill>
                  <a:schemeClr val="dk1"/>
                </a:solidFill>
              </a:rPr>
              <a:t>  Дерево решений - DecisionTreeRegression</a:t>
            </a:r>
            <a:endParaRPr sz="800">
              <a:solidFill>
                <a:schemeClr val="dk1"/>
              </a:solidFill>
            </a:endParaRPr>
          </a:p>
        </p:txBody>
      </p:sp>
      <p:cxnSp>
        <p:nvCxnSpPr>
          <p:cNvPr id="58" name="Google Shape;58;p13"/>
          <p:cNvCxnSpPr>
            <a:stCxn id="55" idx="2"/>
            <a:endCxn id="56" idx="0"/>
          </p:cNvCxnSpPr>
          <p:nvPr/>
        </p:nvCxnSpPr>
        <p:spPr>
          <a:xfrm flipH="1">
            <a:off x="2242625" y="946413"/>
            <a:ext cx="1373700" cy="20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" name="Google Shape;59;p13"/>
          <p:cNvCxnSpPr>
            <a:stCxn id="55" idx="2"/>
            <a:endCxn id="57" idx="0"/>
          </p:cNvCxnSpPr>
          <p:nvPr/>
        </p:nvCxnSpPr>
        <p:spPr>
          <a:xfrm>
            <a:off x="3616325" y="946413"/>
            <a:ext cx="1401900" cy="20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0" name="Google Shape;60;p13"/>
          <p:cNvSpPr/>
          <p:nvPr/>
        </p:nvSpPr>
        <p:spPr>
          <a:xfrm>
            <a:off x="2994575" y="1952425"/>
            <a:ext cx="1243500" cy="292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Типы МО</a:t>
            </a:r>
            <a:endParaRPr b="1" sz="1000"/>
          </a:p>
        </p:txBody>
      </p:sp>
      <p:sp>
        <p:nvSpPr>
          <p:cNvPr id="61" name="Google Shape;61;p13"/>
          <p:cNvSpPr/>
          <p:nvPr/>
        </p:nvSpPr>
        <p:spPr>
          <a:xfrm>
            <a:off x="31700" y="2430875"/>
            <a:ext cx="2345400" cy="1029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С учителем</a:t>
            </a:r>
            <a:endParaRPr b="1" sz="1000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Обучение модели на наборе данных с метками</a:t>
            </a:r>
            <a:endParaRPr sz="1000"/>
          </a:p>
        </p:txBody>
      </p:sp>
      <p:sp>
        <p:nvSpPr>
          <p:cNvPr id="62" name="Google Shape;62;p13"/>
          <p:cNvSpPr/>
          <p:nvPr/>
        </p:nvSpPr>
        <p:spPr>
          <a:xfrm>
            <a:off x="2443625" y="2430850"/>
            <a:ext cx="2345400" cy="1029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Без учителя</a:t>
            </a:r>
            <a:endParaRPr b="1" sz="1000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Обучение модели на наборе данных без помеченных ответов</a:t>
            </a:r>
            <a:endParaRPr sz="1000"/>
          </a:p>
        </p:txBody>
      </p:sp>
      <p:sp>
        <p:nvSpPr>
          <p:cNvPr id="63" name="Google Shape;63;p13"/>
          <p:cNvSpPr/>
          <p:nvPr/>
        </p:nvSpPr>
        <p:spPr>
          <a:xfrm>
            <a:off x="4855550" y="2430850"/>
            <a:ext cx="2345400" cy="1029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С подкреплением</a:t>
            </a:r>
            <a:endParaRPr b="1" sz="1000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Обучение агента принимать последовательность решений, взаимодействуя с окружающей средой</a:t>
            </a:r>
            <a:endParaRPr sz="1000"/>
          </a:p>
        </p:txBody>
      </p:sp>
      <p:cxnSp>
        <p:nvCxnSpPr>
          <p:cNvPr id="64" name="Google Shape;64;p13"/>
          <p:cNvCxnSpPr>
            <a:stCxn id="60" idx="2"/>
            <a:endCxn id="61" idx="0"/>
          </p:cNvCxnSpPr>
          <p:nvPr/>
        </p:nvCxnSpPr>
        <p:spPr>
          <a:xfrm flipH="1">
            <a:off x="1204325" y="2244925"/>
            <a:ext cx="2412000" cy="18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" name="Google Shape;65;p13"/>
          <p:cNvCxnSpPr>
            <a:stCxn id="60" idx="2"/>
            <a:endCxn id="62" idx="0"/>
          </p:cNvCxnSpPr>
          <p:nvPr/>
        </p:nvCxnSpPr>
        <p:spPr>
          <a:xfrm>
            <a:off x="3616325" y="2244925"/>
            <a:ext cx="0" cy="18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6" name="Google Shape;66;p13"/>
          <p:cNvCxnSpPr>
            <a:stCxn id="60" idx="2"/>
            <a:endCxn id="63" idx="0"/>
          </p:cNvCxnSpPr>
          <p:nvPr/>
        </p:nvCxnSpPr>
        <p:spPr>
          <a:xfrm>
            <a:off x="3616325" y="2244925"/>
            <a:ext cx="2412000" cy="18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7" name="Google Shape;67;p13"/>
          <p:cNvSpPr txBox="1"/>
          <p:nvPr/>
        </p:nvSpPr>
        <p:spPr>
          <a:xfrm>
            <a:off x="45750" y="3508513"/>
            <a:ext cx="3645900" cy="2955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Алгоритм решения задачи МО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Загрузка данных</a:t>
            </a:r>
            <a:endParaRPr sz="10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iris = load_iris()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Определение переменных предиктора (X) и отклика (y)</a:t>
            </a:r>
            <a:endParaRPr sz="10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X, y = iris.data, iris.target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Деление данные на обучающий и тестовый наборы</a:t>
            </a:r>
            <a:endParaRPr sz="10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X_train, X_test, y_train, y_test = train_test_split(X, y, test_size=0.2, random_state=42, stratify = y)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Инициализация модели МО</a:t>
            </a:r>
            <a:endParaRPr sz="10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model = LogisticRegression()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Обучение модели на обучающих данных</a:t>
            </a:r>
            <a:endParaRPr sz="10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model.fit(X_train, y_train)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Создание прогнозов на тестовом наборе</a:t>
            </a:r>
            <a:endParaRPr sz="10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y_pred = model.predict(X_test)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Оценка модели</a:t>
            </a:r>
            <a:endParaRPr sz="10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accuracy = accuracy_score(y_test, y_pred)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68" name="Google Shape;68;p13"/>
          <p:cNvSpPr txBox="1"/>
          <p:nvPr/>
        </p:nvSpPr>
        <p:spPr>
          <a:xfrm>
            <a:off x="3780000" y="3508513"/>
            <a:ext cx="3645900" cy="2955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Метрики оценки эффективности</a:t>
            </a:r>
            <a:endParaRPr sz="1000">
              <a:solidFill>
                <a:schemeClr val="dk1"/>
              </a:solidFill>
            </a:endParaRPr>
          </a:p>
          <a:p>
            <a:pPr indent="-17780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romanUcPeriod"/>
            </a:pPr>
            <a:r>
              <a:rPr lang="en" sz="1000">
                <a:solidFill>
                  <a:schemeClr val="dk1"/>
                </a:solidFill>
              </a:rPr>
              <a:t>Для задач регрессии</a:t>
            </a:r>
            <a:endParaRPr sz="1000">
              <a:solidFill>
                <a:schemeClr val="dk1"/>
              </a:solidFill>
            </a:endParaRPr>
          </a:p>
          <a:p>
            <a:pPr indent="-17780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MSE - среднеквадратичная ошибка</a:t>
            </a:r>
            <a:endParaRPr sz="1000">
              <a:solidFill>
                <a:schemeClr val="dk1"/>
              </a:solidFill>
            </a:endParaRPr>
          </a:p>
          <a:p>
            <a:pPr indent="-17780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RMSE - корень из MSE</a:t>
            </a:r>
            <a:endParaRPr sz="1000">
              <a:solidFill>
                <a:schemeClr val="dk1"/>
              </a:solidFill>
            </a:endParaRPr>
          </a:p>
          <a:p>
            <a:pPr indent="-17780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R-square - насколько наша модель отличается от того, если бы мы подставили просто среднее значение. (&lt;0 - средние лучше, &gt; 0 - модель лучше)</a:t>
            </a:r>
            <a:endParaRPr sz="1000">
              <a:solidFill>
                <a:schemeClr val="dk1"/>
              </a:solidFill>
            </a:endParaRPr>
          </a:p>
          <a:p>
            <a:pPr indent="-114300" lvl="0" marL="228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II. Для задач классификации</a:t>
            </a:r>
            <a:endParaRPr sz="1000">
              <a:solidFill>
                <a:schemeClr val="dk1"/>
              </a:solidFill>
            </a:endParaRPr>
          </a:p>
          <a:p>
            <a:pPr indent="-17780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Accuracy - доля правильно предсказанных экземпляров. ((TP + TN )/ (TP + TN + FP + FN))</a:t>
            </a:r>
            <a:endParaRPr sz="1000">
              <a:solidFill>
                <a:schemeClr val="dk1"/>
              </a:solidFill>
            </a:endParaRPr>
          </a:p>
          <a:p>
            <a:pPr indent="-17780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Precision - сколько из всех предсказанных положительных экземпляров оказались действительно положительными (TP/(TP + FP))</a:t>
            </a:r>
            <a:endParaRPr sz="1000">
              <a:solidFill>
                <a:schemeClr val="dk1"/>
              </a:solidFill>
            </a:endParaRPr>
          </a:p>
          <a:p>
            <a:pPr indent="-17780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Recall - сколько из всех фактически положительных экземпляров модель </a:t>
            </a:r>
            <a:r>
              <a:rPr lang="en" sz="1000">
                <a:solidFill>
                  <a:schemeClr val="dk1"/>
                </a:solidFill>
              </a:rPr>
              <a:t>предсказала</a:t>
            </a:r>
            <a:r>
              <a:rPr lang="en" sz="1000">
                <a:solidFill>
                  <a:schemeClr val="dk1"/>
                </a:solidFill>
              </a:rPr>
              <a:t> как положительные (TP/(TP + FN))</a:t>
            </a:r>
            <a:endParaRPr sz="1000">
              <a:solidFill>
                <a:schemeClr val="dk1"/>
              </a:solidFill>
            </a:endParaRPr>
          </a:p>
          <a:p>
            <a:pPr indent="-17780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F1-score - </a:t>
            </a:r>
            <a:r>
              <a:rPr lang="en" sz="1000">
                <a:solidFill>
                  <a:schemeClr val="dk1"/>
                </a:solidFill>
              </a:rPr>
              <a:t>гармоническое</a:t>
            </a:r>
            <a:r>
              <a:rPr lang="en" sz="1000">
                <a:solidFill>
                  <a:schemeClr val="dk1"/>
                </a:solidFill>
              </a:rPr>
              <a:t> среднее между recall и precision (2 * (precision * recall)/(precision + recall))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69" name="Google Shape;69;p13"/>
          <p:cNvSpPr txBox="1"/>
          <p:nvPr/>
        </p:nvSpPr>
        <p:spPr>
          <a:xfrm>
            <a:off x="45750" y="6511875"/>
            <a:ext cx="7322700" cy="646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Переобучение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М</a:t>
            </a:r>
            <a:r>
              <a:rPr lang="en" sz="1000">
                <a:solidFill>
                  <a:schemeClr val="dk1"/>
                </a:solidFill>
              </a:rPr>
              <a:t>одель слишком хорошо изучает обучающие данные, включая шумы и выбросы. В результате модель демонстрирует исключительные результаты на обучающих данных, но плохо работает на новых, неизвестных данных.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70" name="Google Shape;70;p13"/>
          <p:cNvSpPr txBox="1"/>
          <p:nvPr/>
        </p:nvSpPr>
        <p:spPr>
          <a:xfrm>
            <a:off x="45750" y="7206425"/>
            <a:ext cx="7322700" cy="646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Недообучение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М</a:t>
            </a:r>
            <a:r>
              <a:rPr lang="en" sz="1000">
                <a:solidFill>
                  <a:schemeClr val="dk1"/>
                </a:solidFill>
              </a:rPr>
              <a:t>одель слишком проста, чтобы отразить основные закономерности в данных. В результате модель плохо работает как на обучающих данных, так и на новых, неизвестных данных.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71" name="Google Shape;71;p13"/>
          <p:cNvSpPr txBox="1"/>
          <p:nvPr/>
        </p:nvSpPr>
        <p:spPr>
          <a:xfrm>
            <a:off x="45750" y="7900963"/>
            <a:ext cx="3645900" cy="2647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Диагностика переобучения и недообучения</a:t>
            </a:r>
            <a:endParaRPr b="1" sz="800">
              <a:solidFill>
                <a:schemeClr val="dk1"/>
              </a:solidFill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AutoNum type="arabicPeriod"/>
            </a:pPr>
            <a:r>
              <a:rPr i="1" lang="en" sz="800">
                <a:solidFill>
                  <a:schemeClr val="dk1"/>
                </a:solidFill>
              </a:rPr>
              <a:t>Кривые обучения</a:t>
            </a:r>
            <a:endParaRPr i="1" sz="800">
              <a:solidFill>
                <a:schemeClr val="dk1"/>
              </a:solidFill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" sz="800">
                <a:solidFill>
                  <a:schemeClr val="dk1"/>
                </a:solidFill>
              </a:rPr>
              <a:t>Если кривые обучения показывают, что ошибка обучения постоянно уменьшается и приближается к нулю, а ошибка проверки остается значительно выше и может даже увеличиться, это свидетельствует о переобучении. </a:t>
            </a:r>
            <a:endParaRPr sz="800">
              <a:solidFill>
                <a:schemeClr val="dk1"/>
              </a:solidFill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" sz="800">
                <a:solidFill>
                  <a:schemeClr val="dk1"/>
                </a:solidFill>
              </a:rPr>
              <a:t>Если кривые обучения показывают, что ошибки обучения и проверки высоки и остаются относительно постоянными, это свидетельствует о недообучении. </a:t>
            </a:r>
            <a:endParaRPr sz="800">
              <a:solidFill>
                <a:schemeClr val="dk1"/>
              </a:solidFill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" sz="800">
                <a:solidFill>
                  <a:schemeClr val="dk1"/>
                </a:solidFill>
              </a:rPr>
              <a:t>Хорошо подогнанная модель имеет кривые обучения, на которых ошибки обучения и проверки уменьшаются и сходятся к одинаковому значению. </a:t>
            </a:r>
            <a:endParaRPr sz="800">
              <a:solidFill>
                <a:schemeClr val="dk1"/>
              </a:solidFill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AutoNum type="arabicPeriod"/>
            </a:pPr>
            <a:r>
              <a:rPr i="1" lang="en" sz="800">
                <a:solidFill>
                  <a:schemeClr val="dk1"/>
                </a:solidFill>
              </a:rPr>
              <a:t>Кросс-валидация</a:t>
            </a:r>
            <a:endParaRPr i="1" sz="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cv_scores = cross_val_score(model, X, y, cv=5, scoring='accuracy')</a:t>
            </a:r>
            <a:endParaRPr sz="800">
              <a:solidFill>
                <a:schemeClr val="dk1"/>
              </a:solidFill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" sz="800">
                <a:solidFill>
                  <a:schemeClr val="dk1"/>
                </a:solidFill>
              </a:rPr>
              <a:t>Если все значения примерно одинаковые (например [0.81, 0.83, 0.82, 0.80, 0.83]), значит модель стабильна - переходим к обычным шагам работы с моделью</a:t>
            </a:r>
            <a:endParaRPr sz="800">
              <a:solidFill>
                <a:schemeClr val="dk1"/>
              </a:solidFill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" sz="800">
                <a:solidFill>
                  <a:schemeClr val="dk1"/>
                </a:solidFill>
              </a:rPr>
              <a:t>Если разброс большой (например [0.90, 0.60, 0.85, 0.65, 0.92]), модель нестабильна - меняем параметры модели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72" name="Google Shape;72;p13"/>
          <p:cNvSpPr txBox="1"/>
          <p:nvPr/>
        </p:nvSpPr>
        <p:spPr>
          <a:xfrm>
            <a:off x="3780000" y="7900963"/>
            <a:ext cx="3645900" cy="2647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Что делать с недообученностью/переобученностью</a:t>
            </a:r>
            <a:endParaRPr b="1" sz="800">
              <a:solidFill>
                <a:schemeClr val="dk1"/>
              </a:solidFill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AutoNum type="arabicPeriod"/>
            </a:pPr>
            <a:r>
              <a:rPr i="1" lang="en" sz="800">
                <a:solidFill>
                  <a:schemeClr val="dk1"/>
                </a:solidFill>
              </a:rPr>
              <a:t>Недообученность</a:t>
            </a:r>
            <a:endParaRPr i="1" sz="800">
              <a:solidFill>
                <a:schemeClr val="dk1"/>
              </a:solidFill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" sz="800">
                <a:solidFill>
                  <a:schemeClr val="dk1"/>
                </a:solidFill>
              </a:rPr>
              <a:t>Повышение сложности модели</a:t>
            </a:r>
            <a:endParaRPr sz="800">
              <a:solidFill>
                <a:schemeClr val="dk1"/>
              </a:solidFill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" sz="800">
                <a:solidFill>
                  <a:schemeClr val="dk1"/>
                </a:solidFill>
              </a:rPr>
              <a:t>Создание новых признаков</a:t>
            </a:r>
            <a:endParaRPr sz="800">
              <a:solidFill>
                <a:schemeClr val="dk1"/>
              </a:solidFill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" sz="800">
                <a:solidFill>
                  <a:schemeClr val="dk1"/>
                </a:solidFill>
              </a:rPr>
              <a:t>Увеличение количества итераций и глубины деревьев</a:t>
            </a:r>
            <a:endParaRPr sz="800">
              <a:solidFill>
                <a:schemeClr val="dk1"/>
              </a:solidFill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AutoNum type="arabicPeriod"/>
            </a:pPr>
            <a:r>
              <a:rPr i="1" lang="en" sz="800">
                <a:solidFill>
                  <a:schemeClr val="dk1"/>
                </a:solidFill>
              </a:rPr>
              <a:t>Переобученность</a:t>
            </a:r>
            <a:endParaRPr i="1" sz="800">
              <a:solidFill>
                <a:schemeClr val="dk1"/>
              </a:solidFill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" sz="800">
                <a:solidFill>
                  <a:schemeClr val="dk1"/>
                </a:solidFill>
              </a:rPr>
              <a:t>Регуляризация</a:t>
            </a:r>
            <a:endParaRPr sz="800">
              <a:solidFill>
                <a:schemeClr val="dk1"/>
              </a:solidFill>
            </a:endParaRPr>
          </a:p>
          <a:p>
            <a:pPr indent="-2794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</a:pPr>
            <a:r>
              <a:rPr lang="en" sz="800">
                <a:solidFill>
                  <a:schemeClr val="dk1"/>
                </a:solidFill>
              </a:rPr>
              <a:t>Регрессия Лассо - добавляет штраф, равный абсолютному значению коэффициентов, к функции потерь</a:t>
            </a:r>
            <a:endParaRPr sz="8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lasso = Lasso(alpha=0.1)</a:t>
            </a:r>
            <a:endParaRPr sz="800">
              <a:solidFill>
                <a:schemeClr val="dk1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lasso.fit(X_train_scaled, y_train)</a:t>
            </a:r>
            <a:endParaRPr sz="800">
              <a:solidFill>
                <a:schemeClr val="dk1"/>
              </a:solidFill>
            </a:endParaRPr>
          </a:p>
          <a:p>
            <a:pPr indent="-2794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</a:pPr>
            <a:r>
              <a:rPr lang="en" sz="800">
                <a:solidFill>
                  <a:schemeClr val="dk1"/>
                </a:solidFill>
              </a:rPr>
              <a:t>Регрессия Риджа - добавляет к функции потерь штраф, равный квадрату коэффициентов</a:t>
            </a:r>
            <a:endParaRPr sz="800">
              <a:solidFill>
                <a:schemeClr val="dk1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r</a:t>
            </a:r>
            <a:r>
              <a:rPr lang="en" sz="800">
                <a:solidFill>
                  <a:schemeClr val="dk1"/>
                </a:solidFill>
              </a:rPr>
              <a:t>idge = Ridge(alpha=0.1)</a:t>
            </a:r>
            <a:endParaRPr sz="800">
              <a:solidFill>
                <a:schemeClr val="dk1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ridge.fit(X_train_scaled, y_train)</a:t>
            </a:r>
            <a:endParaRPr sz="800">
              <a:solidFill>
                <a:schemeClr val="dk1"/>
              </a:solidFill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" sz="800">
                <a:solidFill>
                  <a:schemeClr val="dk1"/>
                </a:solidFill>
              </a:rPr>
              <a:t>Обрезка деревьев решений</a:t>
            </a:r>
            <a:endParaRPr sz="800">
              <a:solidFill>
                <a:schemeClr val="dk1"/>
              </a:solidFill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" sz="800">
                <a:solidFill>
                  <a:schemeClr val="dk1"/>
                </a:solidFill>
              </a:rPr>
              <a:t>Уменьшение количества итераций</a:t>
            </a:r>
            <a:endParaRPr sz="800">
              <a:solidFill>
                <a:schemeClr val="dk1"/>
              </a:solidFill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" sz="800">
                <a:solidFill>
                  <a:schemeClr val="dk1"/>
                </a:solidFill>
              </a:rPr>
              <a:t>Ансамблевые методы - например, randomforest</a:t>
            </a:r>
            <a:endParaRPr sz="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4"/>
          <p:cNvSpPr txBox="1"/>
          <p:nvPr/>
        </p:nvSpPr>
        <p:spPr>
          <a:xfrm>
            <a:off x="158400" y="132450"/>
            <a:ext cx="5899500" cy="49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</a:rPr>
              <a:t>Список библиотек и модулей для МО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</a:rPr>
              <a:t>Построение моделей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from sklearn.linear_model import </a:t>
            </a:r>
            <a:r>
              <a:rPr b="1" lang="en" sz="1000">
                <a:solidFill>
                  <a:schemeClr val="dk1"/>
                </a:solidFill>
              </a:rPr>
              <a:t>LinearRegression</a:t>
            </a:r>
            <a:r>
              <a:rPr lang="en" sz="1000">
                <a:solidFill>
                  <a:schemeClr val="dk1"/>
                </a:solidFill>
              </a:rPr>
              <a:t> - модель линейной регрессии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from sklearn.linear_model import </a:t>
            </a:r>
            <a:r>
              <a:rPr b="1" lang="en" sz="1000">
                <a:solidFill>
                  <a:schemeClr val="dk1"/>
                </a:solidFill>
              </a:rPr>
              <a:t>LogisticRegression </a:t>
            </a:r>
            <a:r>
              <a:rPr lang="en" sz="1000">
                <a:solidFill>
                  <a:schemeClr val="dk1"/>
                </a:solidFill>
              </a:rPr>
              <a:t>- модель логистической регрессии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from sklearn.tree import </a:t>
            </a:r>
            <a:r>
              <a:rPr b="1" lang="en" sz="1000">
                <a:solidFill>
                  <a:schemeClr val="dk1"/>
                </a:solidFill>
              </a:rPr>
              <a:t>DecisionTreeClassifier</a:t>
            </a:r>
            <a:r>
              <a:rPr lang="en" sz="1000">
                <a:solidFill>
                  <a:schemeClr val="dk1"/>
                </a:solidFill>
              </a:rPr>
              <a:t> - для построения модели дерево решений для классификации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from sklearn.tree import </a:t>
            </a:r>
            <a:r>
              <a:rPr b="1" lang="en" sz="1000">
                <a:solidFill>
                  <a:schemeClr val="dk1"/>
                </a:solidFill>
              </a:rPr>
              <a:t>DecisionTreeRegression</a:t>
            </a:r>
            <a:r>
              <a:rPr lang="en" sz="1000">
                <a:solidFill>
                  <a:schemeClr val="dk1"/>
                </a:solidFill>
              </a:rPr>
              <a:t> - для построения модели дерево решений для регрессии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from sklearn.tree import </a:t>
            </a:r>
            <a:r>
              <a:rPr b="1" lang="en" sz="1000">
                <a:solidFill>
                  <a:schemeClr val="dk1"/>
                </a:solidFill>
              </a:rPr>
              <a:t>plot_tree</a:t>
            </a:r>
            <a:r>
              <a:rPr lang="en" sz="1000">
                <a:solidFill>
                  <a:schemeClr val="dk1"/>
                </a:solidFill>
              </a:rPr>
              <a:t> - для визуализации дерева решений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from sklearn.neighbors import </a:t>
            </a:r>
            <a:r>
              <a:rPr b="1" lang="en" sz="1000">
                <a:solidFill>
                  <a:schemeClr val="dk1"/>
                </a:solidFill>
              </a:rPr>
              <a:t>KNeighborsClassifier</a:t>
            </a:r>
            <a:r>
              <a:rPr lang="en" sz="1000">
                <a:solidFill>
                  <a:schemeClr val="dk1"/>
                </a:solidFill>
              </a:rPr>
              <a:t> - для построения модели k ближайших соседей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from sklearn.model_selection import </a:t>
            </a:r>
            <a:r>
              <a:rPr b="1" lang="en" sz="1000">
                <a:solidFill>
                  <a:schemeClr val="dk1"/>
                </a:solidFill>
              </a:rPr>
              <a:t>train_test_split</a:t>
            </a:r>
            <a:r>
              <a:rPr lang="en" sz="1000">
                <a:solidFill>
                  <a:schemeClr val="dk1"/>
                </a:solidFill>
              </a:rPr>
              <a:t> - для разделения данных на обучающие и тестовые выборки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</a:rPr>
              <a:t>Метрики эффективности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from sklearn.metrics import </a:t>
            </a:r>
            <a:r>
              <a:rPr b="1" lang="en" sz="1000">
                <a:solidFill>
                  <a:schemeClr val="dk1"/>
                </a:solidFill>
              </a:rPr>
              <a:t>mean_squared_error</a:t>
            </a:r>
            <a:r>
              <a:rPr lang="en" sz="1000">
                <a:solidFill>
                  <a:schemeClr val="dk1"/>
                </a:solidFill>
              </a:rPr>
              <a:t> - для расчета MSE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from sklearn.metrics import </a:t>
            </a:r>
            <a:r>
              <a:rPr b="1" lang="en" sz="1000">
                <a:solidFill>
                  <a:schemeClr val="dk1"/>
                </a:solidFill>
              </a:rPr>
              <a:t>r2_score</a:t>
            </a:r>
            <a:r>
              <a:rPr lang="en" sz="1000">
                <a:solidFill>
                  <a:schemeClr val="dk1"/>
                </a:solidFill>
              </a:rPr>
              <a:t> - для расчет r-square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from sklearn.metrics import </a:t>
            </a:r>
            <a:r>
              <a:rPr b="1" lang="en" sz="1000">
                <a:solidFill>
                  <a:schemeClr val="dk1"/>
                </a:solidFill>
              </a:rPr>
              <a:t>accuracy_score</a:t>
            </a:r>
            <a:r>
              <a:rPr lang="en" sz="1000">
                <a:solidFill>
                  <a:schemeClr val="dk1"/>
                </a:solidFill>
              </a:rPr>
              <a:t> - для вычисления метрики Accuracy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from sklearn.metrics import </a:t>
            </a:r>
            <a:r>
              <a:rPr b="1" lang="en" sz="1000">
                <a:solidFill>
                  <a:schemeClr val="dk1"/>
                </a:solidFill>
              </a:rPr>
              <a:t>classification_report</a:t>
            </a:r>
            <a:r>
              <a:rPr lang="en" sz="1000">
                <a:solidFill>
                  <a:schemeClr val="dk1"/>
                </a:solidFill>
              </a:rPr>
              <a:t> - для построения отчета о классификации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from sklearn.metrics import </a:t>
            </a:r>
            <a:r>
              <a:rPr b="1" lang="en" sz="1000">
                <a:solidFill>
                  <a:schemeClr val="dk1"/>
                </a:solidFill>
              </a:rPr>
              <a:t>confusion_matrix</a:t>
            </a:r>
            <a:r>
              <a:rPr lang="en" sz="1000">
                <a:solidFill>
                  <a:schemeClr val="dk1"/>
                </a:solidFill>
              </a:rPr>
              <a:t> - для построения матрицы ошибок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f</a:t>
            </a:r>
            <a:r>
              <a:rPr lang="en" sz="1000">
                <a:solidFill>
                  <a:schemeClr val="dk1"/>
                </a:solidFill>
              </a:rPr>
              <a:t>rom sklearn.metrics import </a:t>
            </a:r>
            <a:r>
              <a:rPr b="1" lang="en" sz="1000">
                <a:solidFill>
                  <a:schemeClr val="dk1"/>
                </a:solidFill>
              </a:rPr>
              <a:t>precision_recall_curve</a:t>
            </a:r>
            <a:r>
              <a:rPr lang="en" sz="1000">
                <a:solidFill>
                  <a:schemeClr val="dk1"/>
                </a:solidFill>
              </a:rPr>
              <a:t> - для построения кривой precision-recall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from sklearn.metrics import </a:t>
            </a:r>
            <a:r>
              <a:rPr b="1" lang="en" sz="1000">
                <a:solidFill>
                  <a:schemeClr val="dk1"/>
                </a:solidFill>
              </a:rPr>
              <a:t>precision_score</a:t>
            </a:r>
            <a:r>
              <a:rPr lang="en" sz="1000">
                <a:solidFill>
                  <a:schemeClr val="dk1"/>
                </a:solidFill>
              </a:rPr>
              <a:t> - для вычисления метрики precision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from sklearn.metrics import </a:t>
            </a:r>
            <a:r>
              <a:rPr b="1" lang="en" sz="1000">
                <a:solidFill>
                  <a:schemeClr val="dk1"/>
                </a:solidFill>
              </a:rPr>
              <a:t>recall_score</a:t>
            </a:r>
            <a:r>
              <a:rPr lang="en" sz="1000">
                <a:solidFill>
                  <a:schemeClr val="dk1"/>
                </a:solidFill>
              </a:rPr>
              <a:t> - для вычисления метрики recall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from sklearn.metrics import </a:t>
            </a:r>
            <a:r>
              <a:rPr b="1" lang="en" sz="1000">
                <a:solidFill>
                  <a:schemeClr val="dk1"/>
                </a:solidFill>
              </a:rPr>
              <a:t>f1_score</a:t>
            </a:r>
            <a:r>
              <a:rPr lang="en" sz="1000">
                <a:solidFill>
                  <a:schemeClr val="dk1"/>
                </a:solidFill>
              </a:rPr>
              <a:t> - для вычисления метрики F1-score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</a:rPr>
              <a:t>Переобучение/недообучение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from sklearn.model_selection import </a:t>
            </a:r>
            <a:r>
              <a:rPr b="1" lang="en" sz="1000">
                <a:solidFill>
                  <a:schemeClr val="dk1"/>
                </a:solidFill>
              </a:rPr>
              <a:t>learning_curve</a:t>
            </a:r>
            <a:r>
              <a:rPr lang="en" sz="1000">
                <a:solidFill>
                  <a:schemeClr val="dk1"/>
                </a:solidFill>
              </a:rPr>
              <a:t> - для построения кривых обучения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from sklearn.model_selection import </a:t>
            </a:r>
            <a:r>
              <a:rPr b="1" lang="en" sz="1000">
                <a:solidFill>
                  <a:schemeClr val="dk1"/>
                </a:solidFill>
              </a:rPr>
              <a:t>cross_val_score </a:t>
            </a:r>
            <a:r>
              <a:rPr lang="en" sz="1000">
                <a:solidFill>
                  <a:schemeClr val="dk1"/>
                </a:solidFill>
              </a:rPr>
              <a:t>- кросс-валидация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f</a:t>
            </a:r>
            <a:r>
              <a:rPr lang="en" sz="1000">
                <a:solidFill>
                  <a:schemeClr val="dk1"/>
                </a:solidFill>
              </a:rPr>
              <a:t>from sklearn.linear_model import </a:t>
            </a:r>
            <a:r>
              <a:rPr b="1" lang="en" sz="1000">
                <a:solidFill>
                  <a:schemeClr val="dk1"/>
                </a:solidFill>
              </a:rPr>
              <a:t>Lasso</a:t>
            </a:r>
            <a:r>
              <a:rPr lang="en" sz="1000">
                <a:solidFill>
                  <a:schemeClr val="dk1"/>
                </a:solidFill>
              </a:rPr>
              <a:t> - для построения регрессии Лассо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from sklearn.linear_model import </a:t>
            </a:r>
            <a:r>
              <a:rPr b="1" lang="en" sz="1000">
                <a:solidFill>
                  <a:schemeClr val="dk1"/>
                </a:solidFill>
              </a:rPr>
              <a:t>Ridge</a:t>
            </a:r>
            <a:r>
              <a:rPr lang="en" sz="1000">
                <a:solidFill>
                  <a:schemeClr val="dk1"/>
                </a:solidFill>
              </a:rPr>
              <a:t> - для построения регрессии Риджа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